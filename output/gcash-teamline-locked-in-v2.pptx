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f987703a74e53" /><Relationship Type="http://schemas.openxmlformats.org/officeDocument/2006/relationships/extended-properties" Target="/docProps/app.xml" Id="Rabfc76ce8c3043ce" /><Relationship Type="http://schemas.openxmlformats.org/officeDocument/2006/relationships/officeDocument" Target="/ppt/presentation.xml" Id="R6c79c344ecd9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cb93f0aa0c47c9"/>
  </p:sldMasterIdLst>
  <p:notesMasterIdLst>
    <p:notesMasterId xmlns:r="http://schemas.openxmlformats.org/officeDocument/2006/relationships" r:id="R453bc7a8961c48de"/>
  </p:notesMasterIdLst>
  <p:sldIdLst>
    <p:sldId xmlns:r="http://schemas.openxmlformats.org/officeDocument/2006/relationships" id="256" r:id="R4c8b526796084133"/>
    <p:sldId xmlns:r="http://schemas.openxmlformats.org/officeDocument/2006/relationships" id="257" r:id="R6700636f487d4e0c"/>
    <p:sldId xmlns:r="http://schemas.openxmlformats.org/officeDocument/2006/relationships" id="258" r:id="Rb720b5e8cc5d4870"/>
    <p:sldId xmlns:r="http://schemas.openxmlformats.org/officeDocument/2006/relationships" id="259" r:id="R4b0f7806ac7648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b3f0d407f84319" /><Relationship Type="http://schemas.openxmlformats.org/officeDocument/2006/relationships/slideMaster" Target="/ppt/slideMasters/slideMaster1.xml" Id="R2bcb93f0aa0c47c9" /><Relationship Type="http://schemas.openxmlformats.org/officeDocument/2006/relationships/notesMaster" Target="/ppt/notesMasters/notesMaster1.xml" Id="R453bc7a8961c48de" /><Relationship Type="http://schemas.openxmlformats.org/officeDocument/2006/relationships/presProps" Target="/ppt/presProps.xml" Id="Rd5e1b3bd025c462c" /><Relationship Type="http://schemas.openxmlformats.org/officeDocument/2006/relationships/tableStyles" Target="/ppt/tableStyles.xml" Id="R6301f70318e448df" /><Relationship Type="http://schemas.openxmlformats.org/officeDocument/2006/relationships/slide" Target="/ppt/slides/slide1.xml" Id="R4c8b526796084133" /><Relationship Type="http://schemas.openxmlformats.org/officeDocument/2006/relationships/slide" Target="/ppt/slides/slide2.xml" Id="R6700636f487d4e0c" /><Relationship Type="http://schemas.openxmlformats.org/officeDocument/2006/relationships/slide" Target="/ppt/slides/slide3.xml" Id="Rb720b5e8cc5d4870" /><Relationship Type="http://schemas.openxmlformats.org/officeDocument/2006/relationships/slide" Target="/ppt/slides/slide4.xml" Id="R4b0f7806ac76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2235ea2bb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e7a0b1f0284046" /><Relationship Type="http://schemas.openxmlformats.org/officeDocument/2006/relationships/notesMaster" Target="/ppt/notesMasters/notesMaster1.xml" Id="R0907d5dd7922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82d8281aba4b6d" /><Relationship Type="http://schemas.openxmlformats.org/officeDocument/2006/relationships/notesMaster" Target="/ppt/notesMasters/notesMaster1.xml" Id="Raea7f81321224d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9ccfdd19234af8" /><Relationship Type="http://schemas.openxmlformats.org/officeDocument/2006/relationships/notesMaster" Target="/ppt/notesMasters/notesMaster1.xml" Id="Rfeca809ea7ea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e0558d39f54418" /><Relationship Type="http://schemas.openxmlformats.org/officeDocument/2006/relationships/notesMaster" Target="/ppt/notesMasters/notesMaster1.xml" Id="R7dbbe2a2ca08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concept brief, 23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Contractor profile, cash handoff, receipt reconciliation, and progress-billing pattern: user-provided concept brief, 23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Fuse privacy notice - transaction patterns and eligibility assessments: https://gcash.com/privacy-notice/fuse/ffi</a:t>
            </a:r>
          </a:p>
          <a:p xmlns:a="http://schemas.openxmlformats.org/drawingml/2006/main">
            <a:r>
              <a:t>- GCash GLoan for Business terms - business transaction and Scan-To-Pay data: https://gcash.com/terms-and-conditions/gloan-for-business</a:t>
            </a:r>
          </a:p>
          <a:p xmlns:a="http://schemas.openxmlformats.org/drawingml/2006/main">
            <a:r>
              <a:t>- TeamLine, delegated allowances, controls, project tags, monthly billing, and credit growth are the team's proposed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GCash Help Center - GCredit payment channels: https://help.gcash.com/hc/en-us/articles/360038858973-How-to-use-GCredit-to-pay</a:t>
            </a:r>
          </a:p>
          <a:p xmlns:a="http://schemas.openxmlformats.org/drawingml/2006/main">
            <a:r>
              <a:t>- GCash GLoan for Business terms - Fuse, GCash for Business, and transaction data: https://gcash.com/terms-and-conditions/gloan-for-business</a:t>
            </a:r>
          </a:p>
          <a:p xmlns:a="http://schemas.openxmlformats.org/drawingml/2006/main">
            <a:r>
              <a:t>- TeamLine, worker sub-lines, controls, tagging, settlement, and phasing are the team's proposed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e3eecd09545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88725702ec446e" /><Relationship Type="http://schemas.openxmlformats.org/officeDocument/2006/relationships/slideLayout" Target="/ppt/slideLayouts/slideLayout1.xml" Id="R6f442d2c031246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42d2c031246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64946aa7f4af1" /><Relationship Type="http://schemas.openxmlformats.org/officeDocument/2006/relationships/notesSlide" Target="/ppt/notesSlides/notesSlide1.xml" Id="R7c6277ca511544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2fdb0cd904c0b" /><Relationship Type="http://schemas.openxmlformats.org/officeDocument/2006/relationships/notesSlide" Target="/ppt/notesSlides/notesSlide2.xml" Id="R51e4ecb40ad149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837ef127e4cb0" /><Relationship Type="http://schemas.openxmlformats.org/officeDocument/2006/relationships/notesSlide" Target="/ppt/notesSlides/notesSlide3.xml" Id="Rf43f9b9222954e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408f8248044cf" /><Relationship Type="http://schemas.openxmlformats.org/officeDocument/2006/relationships/notesSlide" Target="/ppt/notesSlides/notesSlide4.xml" Id="R10a6c64c7b6147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team">
            <a:extLst xmlns:a="http://schemas.openxmlformats.org/drawingml/2006/main">
              <a:ext uri="{FF2B5EF4-FFF2-40B4-BE49-F238E27FC236}">
                <a16:creationId xmlns:a16="http://schemas.microsoft.com/office/drawing/2014/main" id="{8F95D390-054C-4918-8AE1-AB5123E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240C67-F1E5-4103-B4F9-7A84F5B1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7334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4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GCash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4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TeamLine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355A66E-FC25-4090-80BF-931B45C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19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accent-type">
            <a:extLst xmlns:a="http://schemas.openxmlformats.org/drawingml/2006/main">
              <a:ext uri="{FF2B5EF4-FFF2-40B4-BE49-F238E27FC236}">
                <a16:creationId xmlns:a16="http://schemas.microsoft.com/office/drawing/2014/main" id="{46EFE560-B35C-4248-8978-AEC25AC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LINE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THREE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DEDB7DF-5975-4B6D-8089-1C3ADBE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Controlled purchasing today.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credit record tomorrow.</a:t>
            </a:r>
          </a:p>
        </p:txBody>
      </p:sp>
      <p:sp>
        <p:nvSpPr>
          <p:cNvPr id="6" name="cover-event">
            <a:extLst xmlns:a="http://schemas.openxmlformats.org/drawingml/2006/main">
              <a:ext uri="{FF2B5EF4-FFF2-40B4-BE49-F238E27FC236}">
                <a16:creationId xmlns:a16="http://schemas.microsoft.com/office/drawing/2014/main" id="{05CC2BED-3F48-46A4-9F37-9D11A1BF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ImaGnation 2026  |  GCash Innovation Challenge</a:t>
            </a:r>
          </a:p>
        </p:txBody>
      </p:sp>
    </p:spTree>
    <p:extLst>
      <p:ext uri="{BB962C8B-B14F-4D97-AF65-F5344CB8AC3E}">
        <p14:creationId xmlns:p14="http://schemas.microsoft.com/office/powerpoint/2010/main" val="171817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01">
            <a:extLst xmlns:a="http://schemas.openxmlformats.org/drawingml/2006/main">
              <a:ext uri="{FF2B5EF4-FFF2-40B4-BE49-F238E27FC236}">
                <a16:creationId xmlns:a16="http://schemas.microsoft.com/office/drawing/2014/main" id="{DCFEAEC9-5AD5-42B2-9083-061A0DF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01  /  THE NEGOSYANTE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3D0D6C3E-101E-4767-AC16-ABC6D29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Every morning starts with cash. Every night ends with guesswork.</a:t>
            </a:r>
          </a:p>
        </p:txBody>
      </p:sp>
      <p:sp>
        <p:nvSpPr>
          <p:cNvPr id="3" name="s1-profile">
            <a:extLst xmlns:a="http://schemas.openxmlformats.org/drawingml/2006/main">
              <a:ext uri="{FF2B5EF4-FFF2-40B4-BE49-F238E27FC236}">
                <a16:creationId xmlns:a16="http://schemas.microsoft.com/office/drawing/2014/main" id="{92024E73-FF4C-4DD7-9815-137251F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Urban small contractor  |  3 workers  |  daily material runs  |  paid through progress billing</a:t>
            </a:r>
          </a:p>
        </p:txBody>
      </p:sp>
      <p:sp>
        <p:nvSpPr>
          <p:cNvPr id="4" name="s1-day-line">
            <a:extLst xmlns:a="http://schemas.openxmlformats.org/drawingml/2006/main">
              <a:ext uri="{FF2B5EF4-FFF2-40B4-BE49-F238E27FC236}">
                <a16:creationId xmlns:a16="http://schemas.microsoft.com/office/drawing/2014/main" id="{B02C402A-5E1A-4239-B699-F23B7E2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moment-dot-0">
            <a:extLst xmlns:a="http://schemas.openxmlformats.org/drawingml/2006/main">
              <a:ext uri="{FF2B5EF4-FFF2-40B4-BE49-F238E27FC236}">
                <a16:creationId xmlns:a16="http://schemas.microsoft.com/office/drawing/2014/main" id="{CCD4F38F-1D06-480A-8FCC-3B1D6C0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moment-time-0">
            <a:extLst xmlns:a="http://schemas.openxmlformats.org/drawingml/2006/main">
              <a:ext uri="{FF2B5EF4-FFF2-40B4-BE49-F238E27FC236}">
                <a16:creationId xmlns:a16="http://schemas.microsoft.com/office/drawing/2014/main" id="{7FB08223-07FA-471B-95C0-4A6E4B38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06:30</a:t>
            </a:r>
          </a:p>
        </p:txBody>
      </p:sp>
      <p:sp>
        <p:nvSpPr>
          <p:cNvPr id="7" name="s1-moment-stage-0">
            <a:extLst xmlns:a="http://schemas.openxmlformats.org/drawingml/2006/main">
              <a:ext uri="{FF2B5EF4-FFF2-40B4-BE49-F238E27FC236}">
                <a16:creationId xmlns:a16="http://schemas.microsoft.com/office/drawing/2014/main" id="{43788149-D239-45AE-8D93-2170498B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MORNING</a:t>
            </a:r>
          </a:p>
        </p:txBody>
      </p:sp>
      <p:sp>
        <p:nvSpPr>
          <p:cNvPr id="8" name="s1-moment-title-0">
            <a:extLst xmlns:a="http://schemas.openxmlformats.org/drawingml/2006/main">
              <a:ext uri="{FF2B5EF4-FFF2-40B4-BE49-F238E27FC236}">
                <a16:creationId xmlns:a16="http://schemas.microsoft.com/office/drawing/2014/main" id="{89F4FB34-C947-4CE2-B4C0-9C35E90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Cash leaves his hands</a:t>
            </a:r>
          </a:p>
        </p:txBody>
      </p:sp>
      <p:sp>
        <p:nvSpPr>
          <p:cNvPr id="9" name="s1-moment-body-0">
            <a:extLst xmlns:a="http://schemas.openxmlformats.org/drawingml/2006/main">
              <a:ext uri="{FF2B5EF4-FFF2-40B4-BE49-F238E27FC236}">
                <a16:creationId xmlns:a16="http://schemas.microsoft.com/office/drawing/2014/main" id="{1203067B-1F17-46B5-B70D-655573F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He advances physical cash before workers leave for suppliers.</a:t>
            </a:r>
          </a:p>
        </p:txBody>
      </p:sp>
      <p:sp>
        <p:nvSpPr>
          <p:cNvPr id="10" name="s1-moment-dot-1">
            <a:extLst xmlns:a="http://schemas.openxmlformats.org/drawingml/2006/main">
              <a:ext uri="{FF2B5EF4-FFF2-40B4-BE49-F238E27FC236}">
                <a16:creationId xmlns:a16="http://schemas.microsoft.com/office/drawing/2014/main" id="{6B5FF6E7-173E-4C8B-A347-CAC1231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-moment-time-1">
            <a:extLst xmlns:a="http://schemas.openxmlformats.org/drawingml/2006/main">
              <a:ext uri="{FF2B5EF4-FFF2-40B4-BE49-F238E27FC236}">
                <a16:creationId xmlns:a16="http://schemas.microsoft.com/office/drawing/2014/main" id="{0A6FE1E4-E852-44CE-BEF2-E3B3443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813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11:00</a:t>
            </a:r>
          </a:p>
        </p:txBody>
      </p:sp>
      <p:sp>
        <p:nvSpPr>
          <p:cNvPr id="12" name="s1-moment-stage-1">
            <a:extLst xmlns:a="http://schemas.openxmlformats.org/drawingml/2006/main">
              <a:ext uri="{FF2B5EF4-FFF2-40B4-BE49-F238E27FC236}">
                <a16:creationId xmlns:a16="http://schemas.microsoft.com/office/drawing/2014/main" id="{0E978F40-2E36-4280-B039-6A09EDAC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MATERIAL RUN</a:t>
            </a:r>
          </a:p>
        </p:txBody>
      </p:sp>
      <p:sp>
        <p:nvSpPr>
          <p:cNvPr id="13" name="s1-moment-title-1">
            <a:extLst xmlns:a="http://schemas.openxmlformats.org/drawingml/2006/main">
              <a:ext uri="{FF2B5EF4-FFF2-40B4-BE49-F238E27FC236}">
                <a16:creationId xmlns:a16="http://schemas.microsoft.com/office/drawing/2014/main" id="{C4F91494-9B25-4260-AD8C-E8F131E5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Control disappears</a:t>
            </a:r>
          </a:p>
        </p:txBody>
      </p:sp>
      <p:sp>
        <p:nvSpPr>
          <p:cNvPr id="14" name="s1-moment-body-1">
            <a:extLst xmlns:a="http://schemas.openxmlformats.org/drawingml/2006/main">
              <a:ext uri="{FF2B5EF4-FFF2-40B4-BE49-F238E27FC236}">
                <a16:creationId xmlns:a16="http://schemas.microsoft.com/office/drawing/2014/main" id="{D2C6360D-BCE4-4470-8EDE-269CE6D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Once cash is handed over, limits and merchant rules no longer exist.</a:t>
            </a:r>
          </a:p>
        </p:txBody>
      </p:sp>
      <p:sp>
        <p:nvSpPr>
          <p:cNvPr id="15" name="s1-moment-dot-2">
            <a:extLst xmlns:a="http://schemas.openxmlformats.org/drawingml/2006/main">
              <a:ext uri="{FF2B5EF4-FFF2-40B4-BE49-F238E27FC236}">
                <a16:creationId xmlns:a16="http://schemas.microsoft.com/office/drawing/2014/main" id="{FBAE69AF-2EC9-4E67-8C4E-8FBF2EB5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-moment-time-2">
            <a:extLst xmlns:a="http://schemas.openxmlformats.org/drawingml/2006/main">
              <a:ext uri="{FF2B5EF4-FFF2-40B4-BE49-F238E27FC236}">
                <a16:creationId xmlns:a16="http://schemas.microsoft.com/office/drawing/2014/main" id="{8E6731D4-BEF2-4208-9E9A-B6CF3A8B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813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19:00</a:t>
            </a:r>
          </a:p>
        </p:txBody>
      </p:sp>
      <p:sp>
        <p:nvSpPr>
          <p:cNvPr id="17" name="s1-moment-stage-2">
            <a:extLst xmlns:a="http://schemas.openxmlformats.org/drawingml/2006/main">
              <a:ext uri="{FF2B5EF4-FFF2-40B4-BE49-F238E27FC236}">
                <a16:creationId xmlns:a16="http://schemas.microsoft.com/office/drawing/2014/main" id="{220015BE-64E2-45E5-8347-A933A0D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AT NIGHT</a:t>
            </a:r>
          </a:p>
        </p:txBody>
      </p:sp>
      <p:sp>
        <p:nvSpPr>
          <p:cNvPr id="18" name="s1-moment-title-2">
            <a:extLst xmlns:a="http://schemas.openxmlformats.org/drawingml/2006/main">
              <a:ext uri="{FF2B5EF4-FFF2-40B4-BE49-F238E27FC236}">
                <a16:creationId xmlns:a16="http://schemas.microsoft.com/office/drawing/2014/main" id="{0DF5795D-690F-4D82-B449-7C65F96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Receipts become detective work</a:t>
            </a:r>
          </a:p>
        </p:txBody>
      </p:sp>
      <p:sp>
        <p:nvSpPr>
          <p:cNvPr id="19" name="s1-moment-body-2">
            <a:extLst xmlns:a="http://schemas.openxmlformats.org/drawingml/2006/main">
              <a:ext uri="{FF2B5EF4-FFF2-40B4-BE49-F238E27FC236}">
                <a16:creationId xmlns:a16="http://schemas.microsoft.com/office/drawing/2014/main" id="{3425F73D-72D7-4353-8E0C-604551D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Crumpled slips and memory decide what gets recorded.</a:t>
            </a:r>
          </a:p>
        </p:txBody>
      </p:sp>
      <p:sp>
        <p:nvSpPr>
          <p:cNvPr id="20" name="s1-consequence">
            <a:extLst xmlns:a="http://schemas.openxmlformats.org/drawingml/2006/main">
              <a:ext uri="{FF2B5EF4-FFF2-40B4-BE49-F238E27FC236}">
                <a16:creationId xmlns:a16="http://schemas.microsoft.com/office/drawing/2014/main" id="{486D2129-6F7E-4FC7-891F-05B4BFD7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consequence-text">
            <a:extLst xmlns:a="http://schemas.openxmlformats.org/drawingml/2006/main">
              <a:ext uri="{FF2B5EF4-FFF2-40B4-BE49-F238E27FC236}">
                <a16:creationId xmlns:a16="http://schemas.microsoft.com/office/drawing/2014/main" id="{9F972F76-CD90-4533-9731-070947B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deeper problem: he fronts materials for weeks, while cash spending builds no usable credit record.</a:t>
            </a:r>
          </a:p>
        </p:txBody>
      </p:sp>
      <p:sp>
        <p:nvSpPr>
          <p:cNvPr id="22" name="footer-team-1">
            <a:extLst xmlns:a="http://schemas.openxmlformats.org/drawingml/2006/main">
              <a:ext uri="{FF2B5EF4-FFF2-40B4-BE49-F238E27FC236}">
                <a16:creationId xmlns:a16="http://schemas.microsoft.com/office/drawing/2014/main" id="{1C804BC6-1851-409B-9F4E-3E84A69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</p:spTree>
    <p:extLst>
      <p:ext uri="{BB962C8B-B14F-4D97-AF65-F5344CB8AC3E}">
        <p14:creationId xmlns:p14="http://schemas.microsoft.com/office/powerpoint/2010/main" val="404528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02">
            <a:extLst xmlns:a="http://schemas.openxmlformats.org/drawingml/2006/main">
              <a:ext uri="{FF2B5EF4-FFF2-40B4-BE49-F238E27FC236}">
                <a16:creationId xmlns:a16="http://schemas.microsoft.com/office/drawing/2014/main" id="{0A450B1B-34D3-49D7-971F-10996DE8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02  /  THE SOLUTION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A84841B4-5F71-4E9D-B9B8-0E4A87C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TeamLine solves control and cash flow together.</a:t>
            </a:r>
          </a:p>
        </p:txBody>
      </p:sp>
      <p:sp>
        <p:nvSpPr>
          <p:cNvPr id="3" name="s2-subtitle">
            <a:extLst xmlns:a="http://schemas.openxmlformats.org/drawingml/2006/main">
              <a:ext uri="{FF2B5EF4-FFF2-40B4-BE49-F238E27FC236}">
                <a16:creationId xmlns:a16="http://schemas.microsoft.com/office/drawing/2014/main" id="{8ABCA2BD-17BD-460E-A6CE-C3A3A1AE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One controlled purchase creates immediate oversight - and the data needed for future credit.</a:t>
            </a:r>
          </a:p>
        </p:txBody>
      </p:sp>
      <p:sp>
        <p:nvSpPr>
          <p:cNvPr id="4" name="s2-divider">
            <a:extLst xmlns:a="http://schemas.openxmlformats.org/drawingml/2006/main">
              <a:ext uri="{FF2B5EF4-FFF2-40B4-BE49-F238E27FC236}">
                <a16:creationId xmlns:a16="http://schemas.microsoft.com/office/drawing/2014/main" id="{F2D38878-4D2D-407C-92DF-B637C14E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left-num">
            <a:extLst xmlns:a="http://schemas.openxmlformats.org/drawingml/2006/main">
              <a:ext uri="{FF2B5EF4-FFF2-40B4-BE49-F238E27FC236}">
                <a16:creationId xmlns:a16="http://schemas.microsoft.com/office/drawing/2014/main" id="{D1E58772-234F-4ED2-80E1-3F777AB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E28E8777-7AE8-469C-83CA-2AE68C96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Control every purchase</a:t>
            </a:r>
          </a:p>
        </p:txBody>
      </p:sp>
      <p:sp>
        <p:nvSpPr>
          <p:cNvPr id="7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E59B37E5-8F13-4DE0-B3BC-3513F02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owner delegates a capped allowance. Workers pay supplier QRs without receiving cash.</a:t>
            </a:r>
          </a:p>
        </p:txBody>
      </p:sp>
      <p:sp>
        <p:nvSpPr>
          <p:cNvPr id="8" name="s2-left-features">
            <a:extLst xmlns:a="http://schemas.openxmlformats.org/drawingml/2006/main">
              <a:ext uri="{FF2B5EF4-FFF2-40B4-BE49-F238E27FC236}">
                <a16:creationId xmlns:a16="http://schemas.microsoft.com/office/drawing/2014/main" id="{17A54E98-7E22-49EB-BF64-280521F7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PER-WORKER CAPS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SUPPLIER + CATEGORY RULES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INSTANT FREEZE</a:t>
            </a:r>
          </a:p>
        </p:txBody>
      </p:sp>
      <p:sp>
        <p:nvSpPr>
          <p:cNvPr id="9" name="s2-right-num">
            <a:extLst xmlns:a="http://schemas.openxmlformats.org/drawingml/2006/main">
              <a:ext uri="{FF2B5EF4-FFF2-40B4-BE49-F238E27FC236}">
                <a16:creationId xmlns:a16="http://schemas.microsoft.com/office/drawing/2014/main" id="{E7C86AD7-DF52-4D49-9F52-25DF02D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A8C9610B-588E-4123-86AD-8BE70A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Finance the project gap</a:t>
            </a:r>
          </a:p>
        </p:txBody>
      </p:sp>
      <p:sp>
        <p:nvSpPr>
          <p:cNvPr id="11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D1B7E59F-A0A9-4BAC-B82A-CA683B2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90900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business line pays for materials now. Tagged spend and repayment create a visible credit file.</a:t>
            </a:r>
          </a:p>
        </p:txBody>
      </p:sp>
      <p:sp>
        <p:nvSpPr>
          <p:cNvPr id="12" name="s2-right-features">
            <a:extLst xmlns:a="http://schemas.openxmlformats.org/drawingml/2006/main">
              <a:ext uri="{FF2B5EF4-FFF2-40B4-BE49-F238E27FC236}">
                <a16:creationId xmlns:a16="http://schemas.microsoft.com/office/drawing/2014/main" id="{2B778559-5929-4A8A-91EC-3423A076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PROJECT-TAGGED LEDGER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ONE MONTHLY BILL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 BIGGER LINE OVER TIME</a:t>
            </a:r>
          </a:p>
        </p:txBody>
      </p:sp>
      <p:sp>
        <p:nvSpPr>
          <p:cNvPr id="13" name="s2-payoff">
            <a:extLst xmlns:a="http://schemas.openxmlformats.org/drawingml/2006/main">
              <a:ext uri="{FF2B5EF4-FFF2-40B4-BE49-F238E27FC236}">
                <a16:creationId xmlns:a16="http://schemas.microsoft.com/office/drawing/2014/main" id="{145560D8-C554-41F8-8B15-8B04E2D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-payoff-text">
            <a:extLst xmlns:a="http://schemas.openxmlformats.org/drawingml/2006/main">
              <a:ext uri="{FF2B5EF4-FFF2-40B4-BE49-F238E27FC236}">
                <a16:creationId xmlns:a16="http://schemas.microsoft.com/office/drawing/2014/main" id="{5156AB12-EF94-4370-8012-3C044B6D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BUSINESS CREDIT LINE  |  THREE AUTHORIZED WORKERS  |  ZERO CASH HANDOFFS</a:t>
            </a:r>
          </a:p>
        </p:txBody>
      </p:sp>
      <p:sp>
        <p:nvSpPr>
          <p:cNvPr id="15" name="footer-team-2">
            <a:extLst xmlns:a="http://schemas.openxmlformats.org/drawingml/2006/main">
              <a:ext uri="{FF2B5EF4-FFF2-40B4-BE49-F238E27FC236}">
                <a16:creationId xmlns:a16="http://schemas.microsoft.com/office/drawing/2014/main" id="{18CBB290-5494-468D-B031-AA9ED4FC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</p:spTree>
    <p:extLst>
      <p:ext uri="{BB962C8B-B14F-4D97-AF65-F5344CB8AC3E}">
        <p14:creationId xmlns:p14="http://schemas.microsoft.com/office/powerpoint/2010/main" val="1807672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03">
            <a:extLst xmlns:a="http://schemas.openxmlformats.org/drawingml/2006/main">
              <a:ext uri="{FF2B5EF4-FFF2-40B4-BE49-F238E27FC236}">
                <a16:creationId xmlns:a16="http://schemas.microsoft.com/office/drawing/2014/main" id="{C86D2C73-06EE-44EB-B9B5-158DE5FA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03  /  THE CONCEPT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BA13388D-24B5-4D21-B90E-BC2B0745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GCash TeamLine splits one business credit line into controlled worker allowances.</a:t>
            </a:r>
          </a:p>
        </p:txBody>
      </p:sp>
      <p:sp>
        <p:nvSpPr>
          <p:cNvPr id="3" name="s3-rail-left">
            <a:extLst xmlns:a="http://schemas.openxmlformats.org/drawingml/2006/main">
              <a:ext uri="{FF2B5EF4-FFF2-40B4-BE49-F238E27FC236}">
                <a16:creationId xmlns:a16="http://schemas.microsoft.com/office/drawing/2014/main" id="{77856397-EBAB-4B36-83F4-AC704BC2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rail-right">
            <a:extLst xmlns:a="http://schemas.openxmlformats.org/drawingml/2006/main">
              <a:ext uri="{FF2B5EF4-FFF2-40B4-BE49-F238E27FC236}">
                <a16:creationId xmlns:a16="http://schemas.microsoft.com/office/drawing/2014/main" id="{4B1259EF-6E61-4451-9BBE-AC6004FB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rail-down">
            <a:extLst xmlns:a="http://schemas.openxmlformats.org/drawingml/2006/main">
              <a:ext uri="{FF2B5EF4-FFF2-40B4-BE49-F238E27FC236}">
                <a16:creationId xmlns:a16="http://schemas.microsoft.com/office/drawing/2014/main" id="{1B2EE242-76FA-4380-B9A7-328A392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owner">
            <a:extLst xmlns:a="http://schemas.openxmlformats.org/drawingml/2006/main">
              <a:ext uri="{FF2B5EF4-FFF2-40B4-BE49-F238E27FC236}">
                <a16:creationId xmlns:a16="http://schemas.microsoft.com/office/drawing/2014/main" id="{847150D9-C54D-47C1-BD9E-C87C3F9E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476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owner-label">
            <a:extLst xmlns:a="http://schemas.openxmlformats.org/drawingml/2006/main">
              <a:ext uri="{FF2B5EF4-FFF2-40B4-BE49-F238E27FC236}">
                <a16:creationId xmlns:a16="http://schemas.microsoft.com/office/drawing/2014/main" id="{CCB818E5-1A81-446A-AFD0-397DA921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8" name="s3-owner-title">
            <a:extLst xmlns:a="http://schemas.openxmlformats.org/drawingml/2006/main">
              <a:ext uri="{FF2B5EF4-FFF2-40B4-BE49-F238E27FC236}">
                <a16:creationId xmlns:a16="http://schemas.microsoft.com/office/drawing/2014/main" id="{623F5632-F0C6-468F-BBE1-3B3DC55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98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business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credit line</a:t>
            </a:r>
          </a:p>
        </p:txBody>
      </p:sp>
      <p:sp>
        <p:nvSpPr>
          <p:cNvPr id="9" name="s3-owner-body">
            <a:extLst xmlns:a="http://schemas.openxmlformats.org/drawingml/2006/main">
              <a:ext uri="{FF2B5EF4-FFF2-40B4-BE49-F238E27FC236}">
                <a16:creationId xmlns:a16="http://schemas.microsoft.com/office/drawing/2014/main" id="{D153FA67-BE5B-469D-AC96-A1C5521D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Sets worker caps, supplier rules, and instant freeze controls.</a:t>
            </a:r>
          </a:p>
        </p:txBody>
      </p:sp>
      <p:sp>
        <p:nvSpPr>
          <p:cNvPr id="10" name="s3-new-label">
            <a:extLst xmlns:a="http://schemas.openxmlformats.org/drawingml/2006/main">
              <a:ext uri="{FF2B5EF4-FFF2-40B4-BE49-F238E27FC236}">
                <a16:creationId xmlns:a16="http://schemas.microsoft.com/office/drawing/2014/main" id="{EE890141-A4CF-49E3-8E4B-0689F479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NEW: DELEGATED SUB-LINE</a:t>
            </a:r>
          </a:p>
        </p:txBody>
      </p:sp>
      <p:sp>
        <p:nvSpPr>
          <p:cNvPr id="11" name="s3-worker-0">
            <a:extLst xmlns:a="http://schemas.openxmlformats.org/drawingml/2006/main">
              <a:ext uri="{FF2B5EF4-FFF2-40B4-BE49-F238E27FC236}">
                <a16:creationId xmlns:a16="http://schemas.microsoft.com/office/drawing/2014/main" id="{D8644389-C1B3-479B-8E15-DE30FBE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468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-worker-who-0">
            <a:extLst xmlns:a="http://schemas.openxmlformats.org/drawingml/2006/main">
              <a:ext uri="{FF2B5EF4-FFF2-40B4-BE49-F238E27FC236}">
                <a16:creationId xmlns:a16="http://schemas.microsoft.com/office/drawing/2014/main" id="{B60A17A1-A911-40CC-BB11-23DE27A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WORKER 1</a:t>
            </a:r>
          </a:p>
        </p:txBody>
      </p:sp>
      <p:sp>
        <p:nvSpPr>
          <p:cNvPr id="13" name="s3-worker-task-0">
            <a:extLst xmlns:a="http://schemas.openxmlformats.org/drawingml/2006/main">
              <a:ext uri="{FF2B5EF4-FFF2-40B4-BE49-F238E27FC236}">
                <a16:creationId xmlns:a16="http://schemas.microsoft.com/office/drawing/2014/main" id="{DE9D7D50-80CE-4F6D-89FF-A37F5C2F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Paint run</a:t>
            </a:r>
          </a:p>
        </p:txBody>
      </p:sp>
      <p:sp>
        <p:nvSpPr>
          <p:cNvPr id="14" name="s3-worker-cap-0">
            <a:extLst xmlns:a="http://schemas.openxmlformats.org/drawingml/2006/main">
              <a:ext uri="{FF2B5EF4-FFF2-40B4-BE49-F238E27FC236}">
                <a16:creationId xmlns:a16="http://schemas.microsoft.com/office/drawing/2014/main" id="{B9170F8C-DA55-44DF-9136-D41D9CB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336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3K</a:t>
            </a:r>
          </a:p>
        </p:txBody>
      </p:sp>
      <p:sp>
        <p:nvSpPr>
          <p:cNvPr id="15" name="s3-worker-1">
            <a:extLst xmlns:a="http://schemas.openxmlformats.org/drawingml/2006/main">
              <a:ext uri="{FF2B5EF4-FFF2-40B4-BE49-F238E27FC236}">
                <a16:creationId xmlns:a16="http://schemas.microsoft.com/office/drawing/2014/main" id="{EDEBC9D4-49EA-424F-B681-418BF91F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468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worker-who-1">
            <a:extLst xmlns:a="http://schemas.openxmlformats.org/drawingml/2006/main">
              <a:ext uri="{FF2B5EF4-FFF2-40B4-BE49-F238E27FC236}">
                <a16:creationId xmlns:a16="http://schemas.microsoft.com/office/drawing/2014/main" id="{1BC925F9-8477-4EDF-887F-82429A85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WORKER 2</a:t>
            </a:r>
          </a:p>
        </p:txBody>
      </p:sp>
      <p:sp>
        <p:nvSpPr>
          <p:cNvPr id="17" name="s3-worker-task-1">
            <a:extLst xmlns:a="http://schemas.openxmlformats.org/drawingml/2006/main">
              <a:ext uri="{FF2B5EF4-FFF2-40B4-BE49-F238E27FC236}">
                <a16:creationId xmlns:a16="http://schemas.microsoft.com/office/drawing/2014/main" id="{61FA4F6B-F861-46D5-BBFB-7DBD75E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Lumber run</a:t>
            </a:r>
          </a:p>
        </p:txBody>
      </p:sp>
      <p:sp>
        <p:nvSpPr>
          <p:cNvPr id="18" name="s3-worker-cap-1">
            <a:extLst xmlns:a="http://schemas.openxmlformats.org/drawingml/2006/main">
              <a:ext uri="{FF2B5EF4-FFF2-40B4-BE49-F238E27FC236}">
                <a16:creationId xmlns:a16="http://schemas.microsoft.com/office/drawing/2014/main" id="{617589BC-785F-4FBB-96B0-E28A3EB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8K</a:t>
            </a:r>
          </a:p>
        </p:txBody>
      </p:sp>
      <p:sp>
        <p:nvSpPr>
          <p:cNvPr id="19" name="s3-worker-2">
            <a:extLst xmlns:a="http://schemas.openxmlformats.org/drawingml/2006/main">
              <a:ext uri="{FF2B5EF4-FFF2-40B4-BE49-F238E27FC236}">
                <a16:creationId xmlns:a16="http://schemas.microsoft.com/office/drawing/2014/main" id="{0819EE13-30E4-4B07-81E6-3BEBC07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468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3-worker-who-2">
            <a:extLst xmlns:a="http://schemas.openxmlformats.org/drawingml/2006/main">
              <a:ext uri="{FF2B5EF4-FFF2-40B4-BE49-F238E27FC236}">
                <a16:creationId xmlns:a16="http://schemas.microsoft.com/office/drawing/2014/main" id="{529D7C2E-5399-4125-8BD6-A447A8D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WORKER 3</a:t>
            </a:r>
          </a:p>
        </p:txBody>
      </p:sp>
      <p:sp>
        <p:nvSpPr>
          <p:cNvPr id="21" name="s3-worker-task-2">
            <a:extLst xmlns:a="http://schemas.openxmlformats.org/drawingml/2006/main">
              <a:ext uri="{FF2B5EF4-FFF2-40B4-BE49-F238E27FC236}">
                <a16:creationId xmlns:a16="http://schemas.microsoft.com/office/drawing/2014/main" id="{72F287BB-10C1-4E87-9670-1B29CA27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Fuel + fittings</a:t>
            </a:r>
          </a:p>
        </p:txBody>
      </p:sp>
      <p:sp>
        <p:nvSpPr>
          <p:cNvPr id="22" name="s3-worker-cap-2">
            <a:extLst xmlns:a="http://schemas.openxmlformats.org/drawingml/2006/main">
              <a:ext uri="{FF2B5EF4-FFF2-40B4-BE49-F238E27FC236}">
                <a16:creationId xmlns:a16="http://schemas.microsoft.com/office/drawing/2014/main" id="{54E7B944-1D56-4D70-AB7D-80F13445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814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PHP 2K</a:t>
            </a:r>
          </a:p>
        </p:txBody>
      </p:sp>
      <p:sp>
        <p:nvSpPr>
          <p:cNvPr id="23" name="s3-rails">
            <a:extLst xmlns:a="http://schemas.openxmlformats.org/drawingml/2006/main">
              <a:ext uri="{FF2B5EF4-FFF2-40B4-BE49-F238E27FC236}">
                <a16:creationId xmlns:a16="http://schemas.microsoft.com/office/drawing/2014/main" id="{0FF3FF99-F632-4333-9949-5C01C0BE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320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3-rails-label">
            <a:extLst xmlns:a="http://schemas.openxmlformats.org/drawingml/2006/main">
              <a:ext uri="{FF2B5EF4-FFF2-40B4-BE49-F238E27FC236}">
                <a16:creationId xmlns:a16="http://schemas.microsoft.com/office/drawing/2014/main" id="{F5BE4412-14B3-4296-8F7F-43F4153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6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8FF"/>
                </a:solidFill>
                <a:latin typeface="Arial"/>
                <a:ea typeface="Arial"/>
                <a:cs typeface="Arial"/>
              </a:rPr>
              <a:t>EXISTING GCASH RAILS</a:t>
            </a:r>
          </a:p>
        </p:txBody>
      </p:sp>
      <p:sp>
        <p:nvSpPr>
          <p:cNvPr id="25" name="s3-qr">
            <a:extLst xmlns:a="http://schemas.openxmlformats.org/drawingml/2006/main">
              <a:ext uri="{FF2B5EF4-FFF2-40B4-BE49-F238E27FC236}">
                <a16:creationId xmlns:a16="http://schemas.microsoft.com/office/drawing/2014/main" id="{EB5C3C5D-F3AD-429C-94C2-313735C8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-qr-type">
            <a:extLst xmlns:a="http://schemas.openxmlformats.org/drawingml/2006/main">
              <a:ext uri="{FF2B5EF4-FFF2-40B4-BE49-F238E27FC236}">
                <a16:creationId xmlns:a16="http://schemas.microsoft.com/office/drawing/2014/main" id="{82693C7B-FF2A-4AAF-BE5A-4B440F2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956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27" name="s3-rails-title">
            <a:extLst xmlns:a="http://schemas.openxmlformats.org/drawingml/2006/main">
              <a:ext uri="{FF2B5EF4-FFF2-40B4-BE49-F238E27FC236}">
                <a16:creationId xmlns:a16="http://schemas.microsoft.com/office/drawing/2014/main" id="{C5E42CAA-D4EE-4F87-A620-F89D105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Merchant QR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GCash for Business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Fuse lending + data</a:t>
            </a:r>
          </a:p>
        </p:txBody>
      </p:sp>
      <p:sp>
        <p:nvSpPr>
          <p:cNvPr id="28" name="s3-rails-body">
            <a:extLst xmlns:a="http://schemas.openxmlformats.org/drawingml/2006/main">
              <a:ext uri="{FF2B5EF4-FFF2-40B4-BE49-F238E27FC236}">
                <a16:creationId xmlns:a16="http://schemas.microsoft.com/office/drawing/2014/main" id="{8E379018-96D6-485A-842A-C9E12FF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Worker selects TeamLine at checkout. The owner remains the borrower.</a:t>
            </a:r>
          </a:p>
        </p:txBody>
      </p:sp>
      <p:sp>
        <p:nvSpPr>
          <p:cNvPr id="29" name="s3-record">
            <a:extLst xmlns:a="http://schemas.openxmlformats.org/drawingml/2006/main">
              <a:ext uri="{FF2B5EF4-FFF2-40B4-BE49-F238E27FC236}">
                <a16:creationId xmlns:a16="http://schemas.microsoft.com/office/drawing/2014/main" id="{A646ABBE-A5D2-401F-B39E-C3E4E89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7543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3-record-title">
            <a:extLst xmlns:a="http://schemas.openxmlformats.org/drawingml/2006/main">
              <a:ext uri="{FF2B5EF4-FFF2-40B4-BE49-F238E27FC236}">
                <a16:creationId xmlns:a16="http://schemas.microsoft.com/office/drawing/2014/main" id="{B6B6B4F2-22EA-4A67-A3ED-C9D7B85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3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MONTHLY BILL  +  ONE PROJECT-TAGGED LEDGER</a:t>
            </a:r>
          </a:p>
        </p:txBody>
      </p:sp>
      <p:sp>
        <p:nvSpPr>
          <p:cNvPr id="31" name="s3-record-body">
            <a:extLst xmlns:a="http://schemas.openxmlformats.org/drawingml/2006/main">
              <a:ext uri="{FF2B5EF4-FFF2-40B4-BE49-F238E27FC236}">
                <a16:creationId xmlns:a16="http://schemas.microsoft.com/office/drawing/2014/main" id="{7BCC8B7C-4CEC-4EDD-B986-8D3E317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00700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Spend controls today; underwriting evidence tomorrow.</a:t>
            </a:r>
          </a:p>
        </p:txBody>
      </p:sp>
      <p:sp>
        <p:nvSpPr>
          <p:cNvPr id="32" name="s3-phase">
            <a:extLst xmlns:a="http://schemas.openxmlformats.org/drawingml/2006/main">
              <a:ext uri="{FF2B5EF4-FFF2-40B4-BE49-F238E27FC236}">
                <a16:creationId xmlns:a16="http://schemas.microsoft.com/office/drawing/2014/main" id="{0046B202-6B8D-4AB9-B883-0010F5E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PHASE 1: registered merchant QRs  |  PHASE 2: help personal-QR neighborhood stores become GCash merchants</a:t>
            </a:r>
          </a:p>
        </p:txBody>
      </p:sp>
      <p:sp>
        <p:nvSpPr>
          <p:cNvPr id="33" name="footer-team-3">
            <a:extLst xmlns:a="http://schemas.openxmlformats.org/drawingml/2006/main">
              <a:ext uri="{FF2B5EF4-FFF2-40B4-BE49-F238E27FC236}">
                <a16:creationId xmlns:a16="http://schemas.microsoft.com/office/drawing/2014/main" id="{ECDBF838-FED6-41C0-9AB5-A712F901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LOCKED-IN</a:t>
            </a:r>
          </a:p>
        </p:txBody>
      </p:sp>
    </p:spTree>
    <p:extLst>
      <p:ext uri="{BB962C8B-B14F-4D97-AF65-F5344CB8AC3E}">
        <p14:creationId xmlns:p14="http://schemas.microsoft.com/office/powerpoint/2010/main" val="1877688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2026-08-23T08:39:56.1960000Z</dcterms:created>
  <dcterms:modified xsi:type="dcterms:W3CDTF">2026-08-23T08:39:56.1960000Z</dcterms:modified>
</coreProperties>
</file>
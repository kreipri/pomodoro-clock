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a578cd2aa04784" /><Relationship Type="http://schemas.openxmlformats.org/officeDocument/2006/relationships/extended-properties" Target="/docProps/app.xml" Id="Re0360dc1af884fb2" /><Relationship Type="http://schemas.openxmlformats.org/officeDocument/2006/relationships/officeDocument" Target="/ppt/presentation.xml" Id="Ref700af8af5f41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b3362253a4989"/>
  </p:sldMasterIdLst>
  <p:notesMasterIdLst>
    <p:notesMasterId xmlns:r="http://schemas.openxmlformats.org/officeDocument/2006/relationships" r:id="R1aade49bab3049ec"/>
  </p:notesMasterIdLst>
  <p:sldIdLst>
    <p:sldId xmlns:r="http://schemas.openxmlformats.org/officeDocument/2006/relationships" id="256" r:id="R743aed6cf8454b7d"/>
    <p:sldId xmlns:r="http://schemas.openxmlformats.org/officeDocument/2006/relationships" id="257" r:id="R7e3b78a037ad4a4a"/>
    <p:sldId xmlns:r="http://schemas.openxmlformats.org/officeDocument/2006/relationships" id="258" r:id="R6fb83305121d48af"/>
    <p:sldId xmlns:r="http://schemas.openxmlformats.org/officeDocument/2006/relationships" id="259" r:id="R732d2444e06c4e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123d12d8824bd5" /><Relationship Type="http://schemas.openxmlformats.org/officeDocument/2006/relationships/slideMaster" Target="/ppt/slideMasters/slideMaster1.xml" Id="R6b9b3362253a4989" /><Relationship Type="http://schemas.openxmlformats.org/officeDocument/2006/relationships/notesMaster" Target="/ppt/notesMasters/notesMaster1.xml" Id="R1aade49bab3049ec" /><Relationship Type="http://schemas.openxmlformats.org/officeDocument/2006/relationships/presProps" Target="/ppt/presProps.xml" Id="R768e9ced51204ce7" /><Relationship Type="http://schemas.openxmlformats.org/officeDocument/2006/relationships/tableStyles" Target="/ppt/tableStyles.xml" Id="R513e378d01984bf2" /><Relationship Type="http://schemas.openxmlformats.org/officeDocument/2006/relationships/slide" Target="/ppt/slides/slide1.xml" Id="R743aed6cf8454b7d" /><Relationship Type="http://schemas.openxmlformats.org/officeDocument/2006/relationships/slide" Target="/ppt/slides/slide2.xml" Id="R7e3b78a037ad4a4a" /><Relationship Type="http://schemas.openxmlformats.org/officeDocument/2006/relationships/slide" Target="/ppt/slides/slide3.xml" Id="R6fb83305121d48af" /><Relationship Type="http://schemas.openxmlformats.org/officeDocument/2006/relationships/slide" Target="/ppt/slides/slide4.xml" Id="R732d2444e06c4e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5f9af3365440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b1760f85dd48ee" /><Relationship Type="http://schemas.openxmlformats.org/officeDocument/2006/relationships/notesMaster" Target="/ppt/notesMasters/notesMaster1.xml" Id="Rff7c6bd15dbb48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d6be860bdf44d9" /><Relationship Type="http://schemas.openxmlformats.org/officeDocument/2006/relationships/notesMaster" Target="/ppt/notesMasters/notesMaster1.xml" Id="Rb7d60a84167e42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960273ac9f47fd" /><Relationship Type="http://schemas.openxmlformats.org/officeDocument/2006/relationships/notesMaster" Target="/ppt/notesMasters/notesMaster1.xml" Id="R8181edfec6ef4e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a8cd83627643f8" /><Relationship Type="http://schemas.openxmlformats.org/officeDocument/2006/relationships/notesMaster" Target="/ppt/notesMasters/notesMaster1.xml" Id="R23237346f9224e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concept brief, 23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GCash Help Center - Cash in fees: https://help.gcash.com/hc/fil/articles/360017595774-Cash-in-fees</a:t>
            </a:r>
          </a:p>
          <a:p xmlns:a="http://schemas.openxmlformats.org/drawingml/2006/main">
            <a:r>
              <a:t>- GCash Help Center - Wallet and transaction limits: https://help.gcash.com/hc/en-us/articles/360021112894-What-are-my-GCash-wallet-and-transaction-limits</a:t>
            </a:r>
          </a:p>
          <a:p xmlns:a="http://schemas.openxmlformats.org/drawingml/2006/main">
            <a:r>
              <a:t>- Contractor profile and progress-billing pattern: user-provided concept brief, 23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Fuse privacy notice - transaction patterns and eligibility assessments: https://gcash.com/privacy-notice/fuse/ffi</a:t>
            </a:r>
          </a:p>
          <a:p xmlns:a="http://schemas.openxmlformats.org/drawingml/2006/main">
            <a:r>
              <a:t>- GCash GLoan for Business terms - business transaction and Scan-To-Pay data: https://gcash.com/terms-and-conditions/gloan-for-business</a:t>
            </a:r>
          </a:p>
          <a:p xmlns:a="http://schemas.openxmlformats.org/drawingml/2006/main">
            <a:r>
              <a:t>- Delegated-credit flywheel is the team's proposed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GCash Help Center - GCredit payment channels: https://help.gcash.com/hc/en-us/articles/360038858973-How-to-use-GCredit-to-pay</a:t>
            </a:r>
          </a:p>
          <a:p xmlns:a="http://schemas.openxmlformats.org/drawingml/2006/main">
            <a:r>
              <a:t>- GCash GLoan for Business terms - Fuse, GCash for Business, and transaction data: https://gcash.com/terms-and-conditions/gloan-for-business</a:t>
            </a:r>
          </a:p>
          <a:p xmlns:a="http://schemas.openxmlformats.org/drawingml/2006/main">
            <a:r>
              <a:t>- TeamLine, worker sub-lines, controls, tagging, settlement, and phasing are the team's proposed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1bf2192d741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312cfa7da24ea1" /><Relationship Type="http://schemas.openxmlformats.org/officeDocument/2006/relationships/slideLayout" Target="/ppt/slideLayouts/slideLayout1.xml" Id="Rd33d26992c8943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3d26992c8943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af4a8a8f14cdc" /><Relationship Type="http://schemas.openxmlformats.org/officeDocument/2006/relationships/notesSlide" Target="/ppt/notesSlides/notesSlide1.xml" Id="R9bc6aba4e59c46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11d6437694dfa" /><Relationship Type="http://schemas.openxmlformats.org/officeDocument/2006/relationships/notesSlide" Target="/ppt/notesSlides/notesSlide2.xml" Id="R1768f4799ebe4e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6fe146fa64908" /><Relationship Type="http://schemas.openxmlformats.org/officeDocument/2006/relationships/notesSlide" Target="/ppt/notesSlides/notesSlide3.xml" Id="R281f9aa8925942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de94709804b6a" /><Relationship Type="http://schemas.openxmlformats.org/officeDocument/2006/relationships/notesSlide" Target="/ppt/notesSlides/notesSlide4.xml" Id="Rdd17ddff284241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team">
            <a:extLst xmlns:a="http://schemas.openxmlformats.org/drawingml/2006/main">
              <a:ext uri="{FF2B5EF4-FFF2-40B4-BE49-F238E27FC236}">
                <a16:creationId xmlns:a16="http://schemas.microsoft.com/office/drawing/2014/main" id="{DB2D3E1F-396D-46C1-86BA-5AD848AB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LOCKED-IN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EB84891-01FA-46AB-BCC9-A95DD5BC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7334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4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GCash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64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TeamLine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55693E3-730C-43FC-8FA7-3B70618A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"/>
            <a:ext cx="219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accent-type">
            <a:extLst xmlns:a="http://schemas.openxmlformats.org/drawingml/2006/main">
              <a:ext uri="{FF2B5EF4-FFF2-40B4-BE49-F238E27FC236}">
                <a16:creationId xmlns:a16="http://schemas.microsoft.com/office/drawing/2014/main" id="{AFE23197-EC07-4A7C-A332-D8313181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19250"/>
            <a:ext cx="16573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LINE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THREE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WORKERS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B12A565-33AE-4080-8766-E9CC6EB8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Controlled purchasing today.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 credit record tomorrow.</a:t>
            </a:r>
          </a:p>
        </p:txBody>
      </p:sp>
      <p:sp>
        <p:nvSpPr>
          <p:cNvPr id="6" name="cover-event">
            <a:extLst xmlns:a="http://schemas.openxmlformats.org/drawingml/2006/main">
              <a:ext uri="{FF2B5EF4-FFF2-40B4-BE49-F238E27FC236}">
                <a16:creationId xmlns:a16="http://schemas.microsoft.com/office/drawing/2014/main" id="{794DE435-AA5D-498E-A133-819A6C3F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ImaGnation 2026  |  GCash Innovation Challenge</a:t>
            </a:r>
          </a:p>
        </p:txBody>
      </p:sp>
    </p:spTree>
    <p:extLst>
      <p:ext uri="{BB962C8B-B14F-4D97-AF65-F5344CB8AC3E}">
        <p14:creationId xmlns:p14="http://schemas.microsoft.com/office/powerpoint/2010/main" val="1397821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01">
            <a:extLst xmlns:a="http://schemas.openxmlformats.org/drawingml/2006/main">
              <a:ext uri="{FF2B5EF4-FFF2-40B4-BE49-F238E27FC236}">
                <a16:creationId xmlns:a16="http://schemas.microsoft.com/office/drawing/2014/main" id="{96EBE8AE-1A4E-4303-A026-996F01BD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01  /  THE NEGOSYANTE</a:t>
            </a:r>
          </a:p>
        </p:txBody>
      </p:sp>
      <p:sp>
        <p:nvSpPr>
          <p:cNvPr id="2" name="s1-title">
            <a:extLst xmlns:a="http://schemas.openxmlformats.org/drawingml/2006/main">
              <a:ext uri="{FF2B5EF4-FFF2-40B4-BE49-F238E27FC236}">
                <a16:creationId xmlns:a16="http://schemas.microsoft.com/office/drawing/2014/main" id="{C4207DB4-0DCD-46E7-B595-9CCC42CB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He can afford the materials. He cannot afford to wait for payment.</a:t>
            </a:r>
          </a:p>
        </p:txBody>
      </p:sp>
      <p:sp>
        <p:nvSpPr>
          <p:cNvPr id="3" name="s1-profile">
            <a:extLst xmlns:a="http://schemas.openxmlformats.org/drawingml/2006/main">
              <a:ext uri="{FF2B5EF4-FFF2-40B4-BE49-F238E27FC236}">
                <a16:creationId xmlns:a16="http://schemas.microsoft.com/office/drawing/2014/main" id="{367EBAC1-6936-4DCE-A31B-C489873B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Urban small contractor  |  3 workers  |  daily material runs  |  paid through progress billing</a:t>
            </a:r>
          </a:p>
        </p:txBody>
      </p:sp>
      <p:sp>
        <p:nvSpPr>
          <p:cNvPr id="4" name="s1-card-0">
            <a:extLst xmlns:a="http://schemas.openxmlformats.org/drawingml/2006/main">
              <a:ext uri="{FF2B5EF4-FFF2-40B4-BE49-F238E27FC236}">
                <a16:creationId xmlns:a16="http://schemas.microsoft.com/office/drawing/2014/main" id="{03D29680-1190-44AB-B34F-514FF59F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20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-stat-0">
            <a:extLst xmlns:a="http://schemas.openxmlformats.org/drawingml/2006/main">
              <a:ext uri="{FF2B5EF4-FFF2-40B4-BE49-F238E27FC236}">
                <a16:creationId xmlns:a16="http://schemas.microsoft.com/office/drawing/2014/main" id="{2DA853FB-7E0A-4C42-8061-5CC7BBA6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825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PHP 8K</a:t>
            </a:r>
          </a:p>
        </p:txBody>
      </p:sp>
      <p:sp>
        <p:nvSpPr>
          <p:cNvPr id="6" name="s1-label-0">
            <a:extLst xmlns:a="http://schemas.openxmlformats.org/drawingml/2006/main">
              <a:ext uri="{FF2B5EF4-FFF2-40B4-BE49-F238E27FC236}">
                <a16:creationId xmlns:a16="http://schemas.microsoft.com/office/drawing/2014/main" id="{F0E42409-0819-4E4E-9C06-64C48CD3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free OTC cash-in / month</a:t>
            </a:r>
          </a:p>
        </p:txBody>
      </p:sp>
      <p:sp>
        <p:nvSpPr>
          <p:cNvPr id="7" name="s1-note-0">
            <a:extLst xmlns:a="http://schemas.openxmlformats.org/drawingml/2006/main">
              <a:ext uri="{FF2B5EF4-FFF2-40B4-BE49-F238E27FC236}">
                <a16:creationId xmlns:a16="http://schemas.microsoft.com/office/drawing/2014/main" id="{AA65563B-FD90-4964-B20C-3372DB04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Then a 2% fee applies above the limit.</a:t>
            </a:r>
          </a:p>
        </p:txBody>
      </p:sp>
      <p:sp>
        <p:nvSpPr>
          <p:cNvPr id="8" name="s1-card-1">
            <a:extLst xmlns:a="http://schemas.openxmlformats.org/drawingml/2006/main">
              <a:ext uri="{FF2B5EF4-FFF2-40B4-BE49-F238E27FC236}">
                <a16:creationId xmlns:a16="http://schemas.microsoft.com/office/drawing/2014/main" id="{04B68F65-D72E-4D7E-8290-152D2FBE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20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1-stat-1">
            <a:extLst xmlns:a="http://schemas.openxmlformats.org/drawingml/2006/main">
              <a:ext uri="{FF2B5EF4-FFF2-40B4-BE49-F238E27FC236}">
                <a16:creationId xmlns:a16="http://schemas.microsoft.com/office/drawing/2014/main" id="{B4FB4460-869E-4167-8687-B591A23A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825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PHP 100K</a:t>
            </a:r>
          </a:p>
        </p:txBody>
      </p:sp>
      <p:sp>
        <p:nvSpPr>
          <p:cNvPr id="10" name="s1-label-1">
            <a:extLst xmlns:a="http://schemas.openxmlformats.org/drawingml/2006/main">
              <a:ext uri="{FF2B5EF4-FFF2-40B4-BE49-F238E27FC236}">
                <a16:creationId xmlns:a16="http://schemas.microsoft.com/office/drawing/2014/main" id="{CED55876-1139-4573-A8E0-CF4673D8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719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standard incoming limit</a:t>
            </a:r>
          </a:p>
        </p:txBody>
      </p:sp>
      <p:sp>
        <p:nvSpPr>
          <p:cNvPr id="11" name="s1-note-1">
            <a:extLst xmlns:a="http://schemas.openxmlformats.org/drawingml/2006/main">
              <a:ext uri="{FF2B5EF4-FFF2-40B4-BE49-F238E27FC236}">
                <a16:creationId xmlns:a16="http://schemas.microsoft.com/office/drawing/2014/main" id="{20EB68B8-9462-4089-97B9-87BF521B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81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 fully verified wallet can hit the ceiling quickly.</a:t>
            </a:r>
          </a:p>
        </p:txBody>
      </p:sp>
      <p:sp>
        <p:nvSpPr>
          <p:cNvPr id="12" name="s1-card-2">
            <a:extLst xmlns:a="http://schemas.openxmlformats.org/drawingml/2006/main">
              <a:ext uri="{FF2B5EF4-FFF2-40B4-BE49-F238E27FC236}">
                <a16:creationId xmlns:a16="http://schemas.microsoft.com/office/drawing/2014/main" id="{949E2EC9-A726-42CA-A4B1-60E0A3A8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20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1-stat-2">
            <a:extLst xmlns:a="http://schemas.openxmlformats.org/drawingml/2006/main">
              <a:ext uri="{FF2B5EF4-FFF2-40B4-BE49-F238E27FC236}">
                <a16:creationId xmlns:a16="http://schemas.microsoft.com/office/drawing/2014/main" id="{28DADFC1-EAD7-4930-B16F-2A02001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825" b="1">
                <a:solidFill>
                  <a:srgbClr val="003C9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3C99"/>
                </a:solidFill>
                <a:latin typeface="Arial"/>
                <a:ea typeface="Arial"/>
                <a:cs typeface="Arial"/>
              </a:rPr>
              <a:t>WEEKS</a:t>
            </a:r>
          </a:p>
        </p:txBody>
      </p:sp>
      <p:sp>
        <p:nvSpPr>
          <p:cNvPr id="14" name="s1-label-2">
            <a:extLst xmlns:a="http://schemas.openxmlformats.org/drawingml/2006/main">
              <a:ext uri="{FF2B5EF4-FFF2-40B4-BE49-F238E27FC236}">
                <a16:creationId xmlns:a16="http://schemas.microsoft.com/office/drawing/2014/main" id="{03FD07A6-312B-445D-BE52-1AD97F0D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of working-capital float</a:t>
            </a:r>
          </a:p>
        </p:txBody>
      </p:sp>
      <p:sp>
        <p:nvSpPr>
          <p:cNvPr id="15" name="s1-note-2">
            <a:extLst xmlns:a="http://schemas.openxmlformats.org/drawingml/2006/main">
              <a:ext uri="{FF2B5EF4-FFF2-40B4-BE49-F238E27FC236}">
                <a16:creationId xmlns:a16="http://schemas.microsoft.com/office/drawing/2014/main" id="{D6CC5FB3-E12D-4671-A5B0-421C0E1A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81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Materials are paid now; client cash arrives later.</a:t>
            </a:r>
          </a:p>
        </p:txBody>
      </p:sp>
      <p:sp>
        <p:nvSpPr>
          <p:cNvPr id="16" name="s1-consequence">
            <a:extLst xmlns:a="http://schemas.openxmlformats.org/drawingml/2006/main">
              <a:ext uri="{FF2B5EF4-FFF2-40B4-BE49-F238E27FC236}">
                <a16:creationId xmlns:a16="http://schemas.microsoft.com/office/drawing/2014/main" id="{04B6F2B0-ED7C-4F42-9DC9-7FDE34AB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1-consequence-text">
            <a:extLst xmlns:a="http://schemas.openxmlformats.org/drawingml/2006/main">
              <a:ext uri="{FF2B5EF4-FFF2-40B4-BE49-F238E27FC236}">
                <a16:creationId xmlns:a16="http://schemas.microsoft.com/office/drawing/2014/main" id="{69575CB4-D4E4-48C4-A2EB-CB9EC6D8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62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 he hands out cash - and every purchase stays untracked, unprotected, and invisible to lenders.</a:t>
            </a:r>
          </a:p>
        </p:txBody>
      </p:sp>
      <p:sp>
        <p:nvSpPr>
          <p:cNvPr id="18" name="footer-team-1">
            <a:extLst xmlns:a="http://schemas.openxmlformats.org/drawingml/2006/main">
              <a:ext uri="{FF2B5EF4-FFF2-40B4-BE49-F238E27FC236}">
                <a16:creationId xmlns:a16="http://schemas.microsoft.com/office/drawing/2014/main" id="{BD2EF32B-FD07-4AF1-9B6B-4AC88BAC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LOCKED-IN</a:t>
            </a:r>
          </a:p>
        </p:txBody>
      </p:sp>
    </p:spTree>
    <p:extLst>
      <p:ext uri="{BB962C8B-B14F-4D97-AF65-F5344CB8AC3E}">
        <p14:creationId xmlns:p14="http://schemas.microsoft.com/office/powerpoint/2010/main" val="128776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02">
            <a:extLst xmlns:a="http://schemas.openxmlformats.org/drawingml/2006/main">
              <a:ext uri="{FF2B5EF4-FFF2-40B4-BE49-F238E27FC236}">
                <a16:creationId xmlns:a16="http://schemas.microsoft.com/office/drawing/2014/main" id="{0C619369-EA3A-44EA-89E6-1F5B844F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02  /  THE INSIGHT</a:t>
            </a:r>
          </a:p>
        </p:txBody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B01015B7-06DA-4C5A-B561-5CB62934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8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The purchase trail can become the credit file.</a:t>
            </a:r>
          </a:p>
        </p:txBody>
      </p:sp>
      <p:sp>
        <p:nvSpPr>
          <p:cNvPr id="3" name="s2-thesis-a">
            <a:extLst xmlns:a="http://schemas.openxmlformats.org/drawingml/2006/main">
              <a:ext uri="{FF2B5EF4-FFF2-40B4-BE49-F238E27FC236}">
                <a16:creationId xmlns:a16="http://schemas.microsoft.com/office/drawing/2014/main" id="{9BE7CF7E-DD6C-4F30-AA9B-1D5428BB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Stop moving his cash faster.</a:t>
            </a:r>
          </a:p>
        </p:txBody>
      </p:sp>
      <p:sp>
        <p:nvSpPr>
          <p:cNvPr id="4" name="s2-thesis-b">
            <a:extLst xmlns:a="http://schemas.openxmlformats.org/drawingml/2006/main">
              <a:ext uri="{FF2B5EF4-FFF2-40B4-BE49-F238E27FC236}">
                <a16:creationId xmlns:a16="http://schemas.microsoft.com/office/drawing/2014/main" id="{DC69E7C7-87D8-4579-9BD1-C565246B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584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Let workers spend controlled credit on his behalf.</a:t>
            </a:r>
          </a:p>
        </p:txBody>
      </p:sp>
      <p:sp>
        <p:nvSpPr>
          <p:cNvPr id="5" name="s2-flow-line">
            <a:extLst xmlns:a="http://schemas.openxmlformats.org/drawingml/2006/main">
              <a:ext uri="{FF2B5EF4-FFF2-40B4-BE49-F238E27FC236}">
                <a16:creationId xmlns:a16="http://schemas.microsoft.com/office/drawing/2014/main" id="{7805898A-353F-4EE2-878C-7528943C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-dot-0">
            <a:extLst xmlns:a="http://schemas.openxmlformats.org/drawingml/2006/main">
              <a:ext uri="{FF2B5EF4-FFF2-40B4-BE49-F238E27FC236}">
                <a16:creationId xmlns:a16="http://schemas.microsoft.com/office/drawing/2014/main" id="{D21E578D-FA55-4589-98E8-75BECEAC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2-num-0">
            <a:extLst xmlns:a="http://schemas.openxmlformats.org/drawingml/2006/main">
              <a:ext uri="{FF2B5EF4-FFF2-40B4-BE49-F238E27FC236}">
                <a16:creationId xmlns:a16="http://schemas.microsoft.com/office/drawing/2014/main" id="{A819030E-5E36-476B-B860-2D0FBFDD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6227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2-step-title-0">
            <a:extLst xmlns:a="http://schemas.openxmlformats.org/drawingml/2006/main">
              <a:ext uri="{FF2B5EF4-FFF2-40B4-BE49-F238E27FC236}">
                <a16:creationId xmlns:a16="http://schemas.microsoft.com/office/drawing/2014/main" id="{5BC504B8-8AD0-463E-B93A-0A227C1F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DELEGATE</a:t>
            </a:r>
          </a:p>
        </p:txBody>
      </p:sp>
      <p:sp>
        <p:nvSpPr>
          <p:cNvPr id="9" name="s2-step-body-0">
            <a:extLst xmlns:a="http://schemas.openxmlformats.org/drawingml/2006/main">
              <a:ext uri="{FF2B5EF4-FFF2-40B4-BE49-F238E27FC236}">
                <a16:creationId xmlns:a16="http://schemas.microsoft.com/office/drawing/2014/main" id="{C8E050F2-E778-4B4C-817F-3FB20C6A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Owner assigns a worker limit.</a:t>
            </a:r>
          </a:p>
        </p:txBody>
      </p:sp>
      <p:sp>
        <p:nvSpPr>
          <p:cNvPr id="10" name="s2-dot-1">
            <a:extLst xmlns:a="http://schemas.openxmlformats.org/drawingml/2006/main">
              <a:ext uri="{FF2B5EF4-FFF2-40B4-BE49-F238E27FC236}">
                <a16:creationId xmlns:a16="http://schemas.microsoft.com/office/drawing/2014/main" id="{A576FEC3-1CA6-44B1-B253-50336F59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2-num-1">
            <a:extLst xmlns:a="http://schemas.openxmlformats.org/drawingml/2006/main">
              <a:ext uri="{FF2B5EF4-FFF2-40B4-BE49-F238E27FC236}">
                <a16:creationId xmlns:a16="http://schemas.microsoft.com/office/drawing/2014/main" id="{2FF6ED3C-066A-40C7-901E-A7F8E7E8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6227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s2-step-title-1">
            <a:extLst xmlns:a="http://schemas.openxmlformats.org/drawingml/2006/main">
              <a:ext uri="{FF2B5EF4-FFF2-40B4-BE49-F238E27FC236}">
                <a16:creationId xmlns:a16="http://schemas.microsoft.com/office/drawing/2014/main" id="{8D0834BB-E1B4-41A2-B9FE-6A51E771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PAY</a:t>
            </a:r>
          </a:p>
        </p:txBody>
      </p:sp>
      <p:sp>
        <p:nvSpPr>
          <p:cNvPr id="13" name="s2-step-body-1">
            <a:extLst xmlns:a="http://schemas.openxmlformats.org/drawingml/2006/main">
              <a:ext uri="{FF2B5EF4-FFF2-40B4-BE49-F238E27FC236}">
                <a16:creationId xmlns:a16="http://schemas.microsoft.com/office/drawing/2014/main" id="{7252780B-1CCC-46DB-BCCC-A93B0B0C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910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Worker scans a supplier QR.</a:t>
            </a:r>
          </a:p>
        </p:txBody>
      </p:sp>
      <p:sp>
        <p:nvSpPr>
          <p:cNvPr id="14" name="s2-dot-2">
            <a:extLst xmlns:a="http://schemas.openxmlformats.org/drawingml/2006/main">
              <a:ext uri="{FF2B5EF4-FFF2-40B4-BE49-F238E27FC236}">
                <a16:creationId xmlns:a16="http://schemas.microsoft.com/office/drawing/2014/main" id="{5D3A4D65-6CD3-4235-8627-D0DA904E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num-2">
            <a:extLst xmlns:a="http://schemas.openxmlformats.org/drawingml/2006/main">
              <a:ext uri="{FF2B5EF4-FFF2-40B4-BE49-F238E27FC236}">
                <a16:creationId xmlns:a16="http://schemas.microsoft.com/office/drawing/2014/main" id="{3BD8A56A-A8AC-4738-87F7-9AA27366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6227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s2-step-title-2">
            <a:extLst xmlns:a="http://schemas.openxmlformats.org/drawingml/2006/main">
              <a:ext uri="{FF2B5EF4-FFF2-40B4-BE49-F238E27FC236}">
                <a16:creationId xmlns:a16="http://schemas.microsoft.com/office/drawing/2014/main" id="{AF64F237-6692-4D8F-9921-07EC7CA6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90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TAG</a:t>
            </a:r>
          </a:p>
        </p:txBody>
      </p:sp>
      <p:sp>
        <p:nvSpPr>
          <p:cNvPr id="17" name="s2-step-body-2">
            <a:extLst xmlns:a="http://schemas.openxmlformats.org/drawingml/2006/main">
              <a:ext uri="{FF2B5EF4-FFF2-40B4-BE49-F238E27FC236}">
                <a16:creationId xmlns:a16="http://schemas.microsoft.com/office/drawing/2014/main" id="{B50FA76C-AB4C-45A8-A181-1E58C518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Purchase is linked to a project.</a:t>
            </a:r>
          </a:p>
        </p:txBody>
      </p:sp>
      <p:sp>
        <p:nvSpPr>
          <p:cNvPr id="18" name="s2-dot-3">
            <a:extLst xmlns:a="http://schemas.openxmlformats.org/drawingml/2006/main">
              <a:ext uri="{FF2B5EF4-FFF2-40B4-BE49-F238E27FC236}">
                <a16:creationId xmlns:a16="http://schemas.microsoft.com/office/drawing/2014/main" id="{9CF536F3-AEB1-43F4-94E9-66E6BACE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0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2-num-3">
            <a:extLst xmlns:a="http://schemas.openxmlformats.org/drawingml/2006/main">
              <a:ext uri="{FF2B5EF4-FFF2-40B4-BE49-F238E27FC236}">
                <a16:creationId xmlns:a16="http://schemas.microsoft.com/office/drawing/2014/main" id="{4D16509D-5362-4455-93B6-B63B7DFD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6227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s2-step-title-3">
            <a:extLst xmlns:a="http://schemas.openxmlformats.org/drawingml/2006/main">
              <a:ext uri="{FF2B5EF4-FFF2-40B4-BE49-F238E27FC236}">
                <a16:creationId xmlns:a16="http://schemas.microsoft.com/office/drawing/2014/main" id="{6AA4EE89-F262-4178-88BB-2417E717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90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GROW</a:t>
            </a:r>
          </a:p>
        </p:txBody>
      </p:sp>
      <p:sp>
        <p:nvSpPr>
          <p:cNvPr id="21" name="s2-step-body-3">
            <a:extLst xmlns:a="http://schemas.openxmlformats.org/drawingml/2006/main">
              <a:ext uri="{FF2B5EF4-FFF2-40B4-BE49-F238E27FC236}">
                <a16:creationId xmlns:a16="http://schemas.microsoft.com/office/drawing/2014/main" id="{F0C773B4-24C9-4362-BA79-52D2EA91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910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Visible history supports a bigger line.</a:t>
            </a:r>
          </a:p>
        </p:txBody>
      </p:sp>
      <p:sp>
        <p:nvSpPr>
          <p:cNvPr id="22" name="s2-payoff">
            <a:extLst xmlns:a="http://schemas.openxmlformats.org/drawingml/2006/main">
              <a:ext uri="{FF2B5EF4-FFF2-40B4-BE49-F238E27FC236}">
                <a16:creationId xmlns:a16="http://schemas.microsoft.com/office/drawing/2014/main" id="{E310055F-2511-4278-88C3-EB938646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2-payoff-text">
            <a:extLst xmlns:a="http://schemas.openxmlformats.org/drawingml/2006/main">
              <a:ext uri="{FF2B5EF4-FFF2-40B4-BE49-F238E27FC236}">
                <a16:creationId xmlns:a16="http://schemas.microsoft.com/office/drawing/2014/main" id="{EA73F60B-4606-4C61-B920-8F691FD0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03C9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3C99"/>
                </a:solidFill>
                <a:latin typeface="Arial"/>
                <a:ea typeface="Arial"/>
                <a:cs typeface="Arial"/>
              </a:rPr>
              <a:t>Every purchase does two jobs: it buys materials today and proves creditworthiness tomorrow.</a:t>
            </a:r>
          </a:p>
        </p:txBody>
      </p:sp>
      <p:sp>
        <p:nvSpPr>
          <p:cNvPr id="24" name="footer-team-2">
            <a:extLst xmlns:a="http://schemas.openxmlformats.org/drawingml/2006/main">
              <a:ext uri="{FF2B5EF4-FFF2-40B4-BE49-F238E27FC236}">
                <a16:creationId xmlns:a16="http://schemas.microsoft.com/office/drawing/2014/main" id="{63E62ADA-BFA0-4D60-AEBD-938F360D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LOCKED-IN</a:t>
            </a:r>
          </a:p>
        </p:txBody>
      </p:sp>
    </p:spTree>
    <p:extLst>
      <p:ext uri="{BB962C8B-B14F-4D97-AF65-F5344CB8AC3E}">
        <p14:creationId xmlns:p14="http://schemas.microsoft.com/office/powerpoint/2010/main" val="10247162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03">
            <a:extLst xmlns:a="http://schemas.openxmlformats.org/drawingml/2006/main">
              <a:ext uri="{FF2B5EF4-FFF2-40B4-BE49-F238E27FC236}">
                <a16:creationId xmlns:a16="http://schemas.microsoft.com/office/drawing/2014/main" id="{E238B813-1FC0-46DF-B0E4-49E6703A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03  /  THE CONCEPT</a:t>
            </a:r>
          </a:p>
        </p:txBody>
      </p:sp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CE5D4A0B-7250-40F0-B5D2-6877FDE9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5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GCash TeamLine splits one business credit line into controlled worker allowances.</a:t>
            </a:r>
          </a:p>
        </p:txBody>
      </p:sp>
      <p:sp>
        <p:nvSpPr>
          <p:cNvPr id="3" name="s3-rail-left">
            <a:extLst xmlns:a="http://schemas.openxmlformats.org/drawingml/2006/main">
              <a:ext uri="{FF2B5EF4-FFF2-40B4-BE49-F238E27FC236}">
                <a16:creationId xmlns:a16="http://schemas.microsoft.com/office/drawing/2014/main" id="{EE1B2EEE-3D00-4A15-9FA1-87C59428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813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3-rail-right">
            <a:extLst xmlns:a="http://schemas.openxmlformats.org/drawingml/2006/main">
              <a:ext uri="{FF2B5EF4-FFF2-40B4-BE49-F238E27FC236}">
                <a16:creationId xmlns:a16="http://schemas.microsoft.com/office/drawing/2014/main" id="{85F9A75F-1FC1-4B1A-A199-15C60631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3-rail-down">
            <a:extLst xmlns:a="http://schemas.openxmlformats.org/drawingml/2006/main">
              <a:ext uri="{FF2B5EF4-FFF2-40B4-BE49-F238E27FC236}">
                <a16:creationId xmlns:a16="http://schemas.microsoft.com/office/drawing/2014/main" id="{3F471A2D-E4F6-4C13-82DA-AC17FD89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19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owner">
            <a:extLst xmlns:a="http://schemas.openxmlformats.org/drawingml/2006/main">
              <a:ext uri="{FF2B5EF4-FFF2-40B4-BE49-F238E27FC236}">
                <a16:creationId xmlns:a16="http://schemas.microsoft.com/office/drawing/2014/main" id="{4BC0C550-0521-4EC2-A92D-C24A152C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2476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owner-label">
            <a:extLst xmlns:a="http://schemas.openxmlformats.org/drawingml/2006/main">
              <a:ext uri="{FF2B5EF4-FFF2-40B4-BE49-F238E27FC236}">
                <a16:creationId xmlns:a16="http://schemas.microsoft.com/office/drawing/2014/main" id="{23C4656A-F68C-4A78-974D-7D8528E2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8" name="s3-owner-title">
            <a:extLst xmlns:a="http://schemas.openxmlformats.org/drawingml/2006/main">
              <a:ext uri="{FF2B5EF4-FFF2-40B4-BE49-F238E27FC236}">
                <a16:creationId xmlns:a16="http://schemas.microsoft.com/office/drawing/2014/main" id="{0D099EF3-8FC2-42F7-8ABC-CB97C89F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98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business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credit line</a:t>
            </a:r>
          </a:p>
        </p:txBody>
      </p:sp>
      <p:sp>
        <p:nvSpPr>
          <p:cNvPr id="9" name="s3-owner-body">
            <a:extLst xmlns:a="http://schemas.openxmlformats.org/drawingml/2006/main">
              <a:ext uri="{FF2B5EF4-FFF2-40B4-BE49-F238E27FC236}">
                <a16:creationId xmlns:a16="http://schemas.microsoft.com/office/drawing/2014/main" id="{733499A1-9AE6-40E6-B7E0-BE341696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Sets worker caps, supplier rules, and instant freeze controls.</a:t>
            </a:r>
          </a:p>
        </p:txBody>
      </p:sp>
      <p:sp>
        <p:nvSpPr>
          <p:cNvPr id="10" name="s3-new-label">
            <a:extLst xmlns:a="http://schemas.openxmlformats.org/drawingml/2006/main">
              <a:ext uri="{FF2B5EF4-FFF2-40B4-BE49-F238E27FC236}">
                <a16:creationId xmlns:a16="http://schemas.microsoft.com/office/drawing/2014/main" id="{16C2BF59-AEE9-48FF-AABB-24D6A8C9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NEW: DELEGATED SUB-LINE</a:t>
            </a:r>
          </a:p>
        </p:txBody>
      </p:sp>
      <p:sp>
        <p:nvSpPr>
          <p:cNvPr id="11" name="s3-worker-0">
            <a:extLst xmlns:a="http://schemas.openxmlformats.org/drawingml/2006/main">
              <a:ext uri="{FF2B5EF4-FFF2-40B4-BE49-F238E27FC236}">
                <a16:creationId xmlns:a16="http://schemas.microsoft.com/office/drawing/2014/main" id="{17C03385-B0FC-4485-9727-7B2E6AC0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468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3-worker-who-0">
            <a:extLst xmlns:a="http://schemas.openxmlformats.org/drawingml/2006/main">
              <a:ext uri="{FF2B5EF4-FFF2-40B4-BE49-F238E27FC236}">
                <a16:creationId xmlns:a16="http://schemas.microsoft.com/office/drawing/2014/main" id="{11AA490C-4436-4631-AA47-F27170E1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52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WORKER 1</a:t>
            </a:r>
          </a:p>
        </p:txBody>
      </p:sp>
      <p:sp>
        <p:nvSpPr>
          <p:cNvPr id="13" name="s3-worker-task-0">
            <a:extLst xmlns:a="http://schemas.openxmlformats.org/drawingml/2006/main">
              <a:ext uri="{FF2B5EF4-FFF2-40B4-BE49-F238E27FC236}">
                <a16:creationId xmlns:a16="http://schemas.microsoft.com/office/drawing/2014/main" id="{C7B65C21-826D-4E88-BE24-B17F1A51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52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Paint run</a:t>
            </a:r>
          </a:p>
        </p:txBody>
      </p:sp>
      <p:sp>
        <p:nvSpPr>
          <p:cNvPr id="14" name="s3-worker-cap-0">
            <a:extLst xmlns:a="http://schemas.openxmlformats.org/drawingml/2006/main">
              <a:ext uri="{FF2B5EF4-FFF2-40B4-BE49-F238E27FC236}">
                <a16:creationId xmlns:a16="http://schemas.microsoft.com/office/drawing/2014/main" id="{86742EB1-42FC-408B-9DB4-36F29F19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336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PHP 3K</a:t>
            </a:r>
          </a:p>
        </p:txBody>
      </p:sp>
      <p:sp>
        <p:nvSpPr>
          <p:cNvPr id="15" name="s3-worker-1">
            <a:extLst xmlns:a="http://schemas.openxmlformats.org/drawingml/2006/main">
              <a:ext uri="{FF2B5EF4-FFF2-40B4-BE49-F238E27FC236}">
                <a16:creationId xmlns:a16="http://schemas.microsoft.com/office/drawing/2014/main" id="{829D73F3-7042-48AB-A79C-DBC15F4F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468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3-worker-who-1">
            <a:extLst xmlns:a="http://schemas.openxmlformats.org/drawingml/2006/main">
              <a:ext uri="{FF2B5EF4-FFF2-40B4-BE49-F238E27FC236}">
                <a16:creationId xmlns:a16="http://schemas.microsoft.com/office/drawing/2014/main" id="{E71268AE-E0DE-4C4F-8CFD-177503A1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76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WORKER 2</a:t>
            </a:r>
          </a:p>
        </p:txBody>
      </p:sp>
      <p:sp>
        <p:nvSpPr>
          <p:cNvPr id="17" name="s3-worker-task-1">
            <a:extLst xmlns:a="http://schemas.openxmlformats.org/drawingml/2006/main">
              <a:ext uri="{FF2B5EF4-FFF2-40B4-BE49-F238E27FC236}">
                <a16:creationId xmlns:a16="http://schemas.microsoft.com/office/drawing/2014/main" id="{048323C4-E9F3-47C5-A549-80EB89B6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Lumber run</a:t>
            </a:r>
          </a:p>
        </p:txBody>
      </p:sp>
      <p:sp>
        <p:nvSpPr>
          <p:cNvPr id="18" name="s3-worker-cap-1">
            <a:extLst xmlns:a="http://schemas.openxmlformats.org/drawingml/2006/main">
              <a:ext uri="{FF2B5EF4-FFF2-40B4-BE49-F238E27FC236}">
                <a16:creationId xmlns:a16="http://schemas.microsoft.com/office/drawing/2014/main" id="{8141A1A4-7392-4F3B-A230-482AB0A5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575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PHP 8K</a:t>
            </a:r>
          </a:p>
        </p:txBody>
      </p:sp>
      <p:sp>
        <p:nvSpPr>
          <p:cNvPr id="19" name="s3-worker-2">
            <a:extLst xmlns:a="http://schemas.openxmlformats.org/drawingml/2006/main">
              <a:ext uri="{FF2B5EF4-FFF2-40B4-BE49-F238E27FC236}">
                <a16:creationId xmlns:a16="http://schemas.microsoft.com/office/drawing/2014/main" id="{55426113-FE95-4C13-8EA3-8740CDBE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29050"/>
            <a:ext cx="468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3-worker-who-2">
            <a:extLst xmlns:a="http://schemas.openxmlformats.org/drawingml/2006/main">
              <a:ext uri="{FF2B5EF4-FFF2-40B4-BE49-F238E27FC236}">
                <a16:creationId xmlns:a16="http://schemas.microsoft.com/office/drawing/2014/main" id="{8BCEB320-3F21-4785-87A4-9CB867E2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00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WORKER 3</a:t>
            </a:r>
          </a:p>
        </p:txBody>
      </p:sp>
      <p:sp>
        <p:nvSpPr>
          <p:cNvPr id="21" name="s3-worker-task-2">
            <a:extLst xmlns:a="http://schemas.openxmlformats.org/drawingml/2006/main">
              <a:ext uri="{FF2B5EF4-FFF2-40B4-BE49-F238E27FC236}">
                <a16:creationId xmlns:a16="http://schemas.microsoft.com/office/drawing/2014/main" id="{52F6C9F6-BD74-43A9-A656-B1C00E00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Fuel + fittings</a:t>
            </a:r>
          </a:p>
        </p:txBody>
      </p:sp>
      <p:sp>
        <p:nvSpPr>
          <p:cNvPr id="22" name="s3-worker-cap-2">
            <a:extLst xmlns:a="http://schemas.openxmlformats.org/drawingml/2006/main">
              <a:ext uri="{FF2B5EF4-FFF2-40B4-BE49-F238E27FC236}">
                <a16:creationId xmlns:a16="http://schemas.microsoft.com/office/drawing/2014/main" id="{57EA5A64-CFE0-4740-8CE4-88A1A20F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814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PHP 2K</a:t>
            </a:r>
          </a:p>
        </p:txBody>
      </p:sp>
      <p:sp>
        <p:nvSpPr>
          <p:cNvPr id="23" name="s3-rails">
            <a:extLst xmlns:a="http://schemas.openxmlformats.org/drawingml/2006/main">
              <a:ext uri="{FF2B5EF4-FFF2-40B4-BE49-F238E27FC236}">
                <a16:creationId xmlns:a16="http://schemas.microsoft.com/office/drawing/2014/main" id="{35EF9D4D-828F-428F-A9F2-689B334D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3200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3-rails-label">
            <a:extLst xmlns:a="http://schemas.openxmlformats.org/drawingml/2006/main">
              <a:ext uri="{FF2B5EF4-FFF2-40B4-BE49-F238E27FC236}">
                <a16:creationId xmlns:a16="http://schemas.microsoft.com/office/drawing/2014/main" id="{450EFEF4-FB95-446D-8DF4-F21C893C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EXISTING GCASH RAILS</a:t>
            </a:r>
          </a:p>
        </p:txBody>
      </p:sp>
      <p:sp>
        <p:nvSpPr>
          <p:cNvPr id="25" name="s3-qr">
            <a:extLst xmlns:a="http://schemas.openxmlformats.org/drawingml/2006/main">
              <a:ext uri="{FF2B5EF4-FFF2-40B4-BE49-F238E27FC236}">
                <a16:creationId xmlns:a16="http://schemas.microsoft.com/office/drawing/2014/main" id="{353AAC08-3352-4EB4-B6EA-681DE6F7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3-qr-type">
            <a:extLst xmlns:a="http://schemas.openxmlformats.org/drawingml/2006/main">
              <a:ext uri="{FF2B5EF4-FFF2-40B4-BE49-F238E27FC236}">
                <a16:creationId xmlns:a16="http://schemas.microsoft.com/office/drawing/2014/main" id="{F29EAA35-A441-496E-BC45-291454D8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9562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QR</a:t>
            </a:r>
          </a:p>
        </p:txBody>
      </p:sp>
      <p:sp>
        <p:nvSpPr>
          <p:cNvPr id="27" name="s3-rails-title">
            <a:extLst xmlns:a="http://schemas.openxmlformats.org/drawingml/2006/main">
              <a:ext uri="{FF2B5EF4-FFF2-40B4-BE49-F238E27FC236}">
                <a16:creationId xmlns:a16="http://schemas.microsoft.com/office/drawing/2014/main" id="{AAB24023-73D6-4D4D-AF85-4A84748A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14650"/>
            <a:ext cx="1847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Merchant QR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GCash for Business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Fuse lending + data</a:t>
            </a:r>
          </a:p>
        </p:txBody>
      </p:sp>
      <p:sp>
        <p:nvSpPr>
          <p:cNvPr id="28" name="s3-rails-body">
            <a:extLst xmlns:a="http://schemas.openxmlformats.org/drawingml/2006/main">
              <a:ext uri="{FF2B5EF4-FFF2-40B4-BE49-F238E27FC236}">
                <a16:creationId xmlns:a16="http://schemas.microsoft.com/office/drawing/2014/main" id="{9DF609DD-C64B-45CD-B46F-229D6B79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Worker selects TeamLine at checkout. The owner remains the borrower.</a:t>
            </a:r>
          </a:p>
        </p:txBody>
      </p:sp>
      <p:sp>
        <p:nvSpPr>
          <p:cNvPr id="29" name="s3-record">
            <a:extLst xmlns:a="http://schemas.openxmlformats.org/drawingml/2006/main">
              <a:ext uri="{FF2B5EF4-FFF2-40B4-BE49-F238E27FC236}">
                <a16:creationId xmlns:a16="http://schemas.microsoft.com/office/drawing/2014/main" id="{D5233875-E204-4B5D-8A84-CF996206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10150"/>
            <a:ext cx="7543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3-record-title">
            <a:extLst xmlns:a="http://schemas.openxmlformats.org/drawingml/2006/main">
              <a:ext uri="{FF2B5EF4-FFF2-40B4-BE49-F238E27FC236}">
                <a16:creationId xmlns:a16="http://schemas.microsoft.com/office/drawing/2014/main" id="{C5D97002-B2AF-4FC8-83EF-9CAA4DB8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19700"/>
            <a:ext cx="693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MONTHLY BILL  +  ONE PROJECT-TAGGED LEDGER</a:t>
            </a:r>
          </a:p>
        </p:txBody>
      </p:sp>
      <p:sp>
        <p:nvSpPr>
          <p:cNvPr id="31" name="s3-record-body">
            <a:extLst xmlns:a="http://schemas.openxmlformats.org/drawingml/2006/main">
              <a:ext uri="{FF2B5EF4-FFF2-40B4-BE49-F238E27FC236}">
                <a16:creationId xmlns:a16="http://schemas.microsoft.com/office/drawing/2014/main" id="{BBA6C395-E02A-4098-BEDF-39267DF6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00700"/>
            <a:ext cx="693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CBF4"/>
                </a:solidFill>
                <a:latin typeface="Arial"/>
                <a:ea typeface="Arial"/>
                <a:cs typeface="Arial"/>
              </a:rPr>
              <a:t>Spend controls today; underwriting evidence tomorrow.</a:t>
            </a:r>
          </a:p>
        </p:txBody>
      </p:sp>
      <p:sp>
        <p:nvSpPr>
          <p:cNvPr id="32" name="s3-phase">
            <a:extLst xmlns:a="http://schemas.openxmlformats.org/drawingml/2006/main">
              <a:ext uri="{FF2B5EF4-FFF2-40B4-BE49-F238E27FC236}">
                <a16:creationId xmlns:a16="http://schemas.microsoft.com/office/drawing/2014/main" id="{6B033C68-4119-478A-8D64-C35CF215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PHASE 1: registered merchant QRs  |  PHASE 2: help personal-QR neighborhood stores become GCash merchants</a:t>
            </a:r>
          </a:p>
        </p:txBody>
      </p:sp>
      <p:sp>
        <p:nvSpPr>
          <p:cNvPr id="33" name="footer-team-3">
            <a:extLst xmlns:a="http://schemas.openxmlformats.org/drawingml/2006/main">
              <a:ext uri="{FF2B5EF4-FFF2-40B4-BE49-F238E27FC236}">
                <a16:creationId xmlns:a16="http://schemas.microsoft.com/office/drawing/2014/main" id="{7707D768-83EF-4D49-A05E-77949413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LOCKED-IN</a:t>
            </a:r>
          </a:p>
        </p:txBody>
      </p:sp>
    </p:spTree>
    <p:extLst>
      <p:ext uri="{BB962C8B-B14F-4D97-AF65-F5344CB8AC3E}">
        <p14:creationId xmlns:p14="http://schemas.microsoft.com/office/powerpoint/2010/main" val="805909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2026-08-23T08:25:43.9380000Z</dcterms:created>
  <dcterms:modified xsi:type="dcterms:W3CDTF">2026-08-23T08:25:43.9380000Z</dcterms:modified>
</coreProperties>
</file>